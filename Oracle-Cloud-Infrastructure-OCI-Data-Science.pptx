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Libre Baskerville" panose="02000000000000000000" pitchFamily="34" charset="0"/>
      <p:bold r:id="rId16"/>
    </p:embeddedFont>
    <p:embeddedFont>
      <p:font typeface="Libre Baskerville" panose="02000000000000000000" pitchFamily="34" charset="-122"/>
      <p:bold r:id="rId17"/>
    </p:embeddedFont>
    <p:embeddedFont>
      <p:font typeface="Libre Baskerville" panose="02000000000000000000" pitchFamily="34" charset="-120"/>
      <p:bold r:id="rId18"/>
    </p:embeddedFont>
    <p:embeddedFont>
      <p:font typeface="Open Sans" pitchFamily="34" charset="0"/>
      <p:bold r:id="rId19"/>
    </p:embeddedFont>
    <p:embeddedFont>
      <p:font typeface="Open Sans" pitchFamily="34" charset="-122"/>
      <p:bold r:id="rId20"/>
    </p:embeddedFont>
    <p:embeddedFont>
      <p:font typeface="Open Sans" pitchFamily="34" charset="-120"/>
      <p:bold r:id="rId21"/>
    </p:embeddedFont>
    <p:embeddedFont>
      <p:font typeface="Consolas" panose="020B060902020403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34" charset="-122"/>
      <p:regular r:id="rId26"/>
    </p:embeddedFont>
    <p:embeddedFont>
      <p:font typeface="Consolas" panose="020B0609020204030204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2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6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4.xml"/><Relationship Id="rId13" Type="http://schemas.openxmlformats.org/officeDocument/2006/relationships/image" Target="../media/image2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71763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Oracle Cloud Infrastructure (OCI) Data Science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29482"/>
            <a:ext cx="5385078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Overview of My Key Learnings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519493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6300" y="7749540"/>
            <a:ext cx="23241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8633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Learning Agenda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3790" y="3583662"/>
            <a:ext cx="226814" cy="2834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3790" y="3916085"/>
            <a:ext cx="4196358" cy="3048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5"/>
            </p:custDataLst>
          </p:nvPr>
        </p:nvSpPr>
        <p:spPr>
          <a:xfrm>
            <a:off x="793790" y="4090392"/>
            <a:ext cx="4196358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Services for ML Business Use Cases</a:t>
            </a:r>
            <a:endParaRPr lang="en-US" sz="2200" dirty="0"/>
          </a:p>
        </p:txBody>
      </p:sp>
      <p:sp>
        <p:nvSpPr>
          <p:cNvPr id="6" name="Text 2"/>
          <p:cNvSpPr/>
          <p:nvPr>
            <p:custDataLst>
              <p:tags r:id="rId6"/>
            </p:custDataLst>
          </p:nvPr>
        </p:nvSpPr>
        <p:spPr>
          <a:xfrm>
            <a:off x="793790" y="4935141"/>
            <a:ext cx="419635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core Oracle Cloud services powering machine learning workflows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16962" y="3583662"/>
            <a:ext cx="226814" cy="28348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16962" y="3916085"/>
            <a:ext cx="4196358" cy="30480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10"/>
            </p:custDataLst>
          </p:nvPr>
        </p:nvSpPr>
        <p:spPr>
          <a:xfrm>
            <a:off x="5216962" y="4090392"/>
            <a:ext cx="4196358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Configuring Workspaces &amp; Projects</a:t>
            </a:r>
            <a:endParaRPr lang="en-US" sz="2200" dirty="0"/>
          </a:p>
        </p:txBody>
      </p:sp>
      <p:sp>
        <p:nvSpPr>
          <p:cNvPr id="10" name="Text 4"/>
          <p:cNvSpPr/>
          <p:nvPr>
            <p:custDataLst>
              <p:tags r:id="rId11"/>
            </p:custDataLst>
          </p:nvPr>
        </p:nvSpPr>
        <p:spPr>
          <a:xfrm>
            <a:off x="5216962" y="4935141"/>
            <a:ext cx="419635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secure environments for team collaboration and project management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640133" y="3583662"/>
            <a:ext cx="226814" cy="28348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40133" y="3916085"/>
            <a:ext cx="4196358" cy="30480"/>
          </a:xfrm>
          <a:prstGeom prst="rect">
            <a:avLst/>
          </a:prstGeom>
        </p:spPr>
      </p:pic>
      <p:sp>
        <p:nvSpPr>
          <p:cNvPr id="13" name="Text 5"/>
          <p:cNvSpPr/>
          <p:nvPr>
            <p:custDataLst>
              <p:tags r:id="rId15"/>
            </p:custDataLst>
          </p:nvPr>
        </p:nvSpPr>
        <p:spPr>
          <a:xfrm>
            <a:off x="9640133" y="4090392"/>
            <a:ext cx="4196358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Accelerated Data Science SDK</a:t>
            </a:r>
            <a:endParaRPr lang="en-US" sz="2200" dirty="0"/>
          </a:p>
        </p:txBody>
      </p:sp>
      <p:sp>
        <p:nvSpPr>
          <p:cNvPr id="14" name="Text 6"/>
          <p:cNvSpPr/>
          <p:nvPr>
            <p:custDataLst>
              <p:tags r:id="rId16"/>
            </p:custDataLst>
          </p:nvPr>
        </p:nvSpPr>
        <p:spPr>
          <a:xfrm>
            <a:off x="9640133" y="4935141"/>
            <a:ext cx="419635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 ML lifecycle with Python SDK tools and automation</a:t>
            </a:r>
            <a:endParaRPr lang="en-US" sz="17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43105" y="7753350"/>
            <a:ext cx="23241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467" y="540187"/>
            <a:ext cx="8909447" cy="6138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Services for Machine Learning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7467" y="1546860"/>
            <a:ext cx="6529507" cy="1917144"/>
          </a:xfrm>
          <a:prstGeom prst="roundRect">
            <a:avLst>
              <a:gd name="adj" fmla="val 1537"/>
            </a:avLst>
          </a:prstGeom>
          <a:solidFill>
            <a:srgbClr val="EAE8F3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801" y="1743194"/>
            <a:ext cx="589240" cy="589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" y="1872020"/>
            <a:ext cx="265152" cy="3314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3801" y="2528768"/>
            <a:ext cx="2455545" cy="30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Data Science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83801" y="2953345"/>
            <a:ext cx="6136838" cy="314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Build, train, and deploy ML models seamlessly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13308" y="1546860"/>
            <a:ext cx="6529626" cy="1917144"/>
          </a:xfrm>
          <a:prstGeom prst="roundRect">
            <a:avLst>
              <a:gd name="adj" fmla="val 1537"/>
            </a:avLst>
          </a:prstGeom>
          <a:solidFill>
            <a:srgbClr val="EAE8F3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642" y="1743194"/>
            <a:ext cx="589240" cy="5892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686" y="1872020"/>
            <a:ext cx="265152" cy="3314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9642" y="2528768"/>
            <a:ext cx="2455545" cy="30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Data Flow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609642" y="2953345"/>
            <a:ext cx="6136958" cy="314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Serverless Apache Spark for scalable big data processing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687467" y="3660338"/>
            <a:ext cx="6529507" cy="1917144"/>
          </a:xfrm>
          <a:prstGeom prst="roundRect">
            <a:avLst>
              <a:gd name="adj" fmla="val 1537"/>
            </a:avLst>
          </a:prstGeom>
          <a:solidFill>
            <a:srgbClr val="EAE8F3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01" y="3856672"/>
            <a:ext cx="589240" cy="58924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845" y="3985498"/>
            <a:ext cx="265152" cy="33147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83801" y="4642247"/>
            <a:ext cx="2455545" cy="30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Object Storage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83801" y="5066824"/>
            <a:ext cx="6136838" cy="314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storage for datasets, models, and artifacts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413308" y="3660338"/>
            <a:ext cx="6529626" cy="1917144"/>
          </a:xfrm>
          <a:prstGeom prst="roundRect">
            <a:avLst>
              <a:gd name="adj" fmla="val 1537"/>
            </a:avLst>
          </a:prstGeom>
          <a:solidFill>
            <a:srgbClr val="EAE8F3"/>
          </a:solidFill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9642" y="3856672"/>
            <a:ext cx="589240" cy="58924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1686" y="3985498"/>
            <a:ext cx="265152" cy="33147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09642" y="4642247"/>
            <a:ext cx="3424833" cy="30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Autonomous Database</a:t>
            </a:r>
            <a:endParaRPr lang="en-US" sz="1900" dirty="0"/>
          </a:p>
        </p:txBody>
      </p:sp>
      <p:sp>
        <p:nvSpPr>
          <p:cNvPr id="22" name="Text 12"/>
          <p:cNvSpPr/>
          <p:nvPr/>
        </p:nvSpPr>
        <p:spPr>
          <a:xfrm>
            <a:off x="7609642" y="5066824"/>
            <a:ext cx="6136958" cy="314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and manage structured data efficiently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87467" y="5773817"/>
            <a:ext cx="6529507" cy="1917144"/>
          </a:xfrm>
          <a:prstGeom prst="roundRect">
            <a:avLst>
              <a:gd name="adj" fmla="val 1537"/>
            </a:avLst>
          </a:prstGeom>
          <a:solidFill>
            <a:srgbClr val="EAE8F3"/>
          </a:solidFill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801" y="5970151"/>
            <a:ext cx="589240" cy="589240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845" y="6098977"/>
            <a:ext cx="265152" cy="33147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83801" y="6755725"/>
            <a:ext cx="2455545" cy="30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AI Services</a:t>
            </a:r>
            <a:endParaRPr lang="en-US" sz="1900" dirty="0"/>
          </a:p>
        </p:txBody>
      </p:sp>
      <p:sp>
        <p:nvSpPr>
          <p:cNvPr id="27" name="Text 15"/>
          <p:cNvSpPr/>
          <p:nvPr/>
        </p:nvSpPr>
        <p:spPr>
          <a:xfrm>
            <a:off x="883801" y="7180302"/>
            <a:ext cx="6136838" cy="314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Pre-trained Vision, NLP, and Speech APIs</a:t>
            </a:r>
            <a:endParaRPr lang="en-US" sz="1500" dirty="0"/>
          </a:p>
        </p:txBody>
      </p:sp>
      <p:sp>
        <p:nvSpPr>
          <p:cNvPr id="28" name="Shape 16"/>
          <p:cNvSpPr/>
          <p:nvPr/>
        </p:nvSpPr>
        <p:spPr>
          <a:xfrm>
            <a:off x="7413308" y="5773817"/>
            <a:ext cx="6529626" cy="1917144"/>
          </a:xfrm>
          <a:prstGeom prst="roundRect">
            <a:avLst>
              <a:gd name="adj" fmla="val 1537"/>
            </a:avLst>
          </a:prstGeom>
          <a:solidFill>
            <a:srgbClr val="EAE8F3"/>
          </a:solidFill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9642" y="5970151"/>
            <a:ext cx="589240" cy="589240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1686" y="6098977"/>
            <a:ext cx="265152" cy="33147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09642" y="6755725"/>
            <a:ext cx="3433167" cy="30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OCI Logging &amp; Monitoring</a:t>
            </a:r>
            <a:endParaRPr lang="en-US" sz="1900" dirty="0"/>
          </a:p>
        </p:txBody>
      </p:sp>
      <p:sp>
        <p:nvSpPr>
          <p:cNvPr id="32" name="Text 18"/>
          <p:cNvSpPr/>
          <p:nvPr/>
        </p:nvSpPr>
        <p:spPr>
          <a:xfrm>
            <a:off x="7609642" y="7180302"/>
            <a:ext cx="6136958" cy="314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and monitor ML pipelines in real time</a:t>
            </a:r>
            <a:endParaRPr lang="en-US" sz="15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06300" y="7773670"/>
            <a:ext cx="23241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1768614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Mapping OCI Services to Business Use Cases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1638" y="1752481"/>
            <a:ext cx="6342102" cy="1646039"/>
          </a:xfrm>
          <a:prstGeom prst="roundRect">
            <a:avLst>
              <a:gd name="adj" fmla="val 1879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498" y="1775341"/>
            <a:ext cx="824746" cy="1600319"/>
          </a:xfrm>
          <a:prstGeom prst="roundRect">
            <a:avLst>
              <a:gd name="adj" fmla="val 424"/>
            </a:avLst>
          </a:prstGeom>
          <a:solidFill>
            <a:srgbClr val="EAE8F3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268" y="2382203"/>
            <a:ext cx="309205" cy="3865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5341" y="1981438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Fraud Detection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75341" y="2509718"/>
            <a:ext cx="5265539" cy="659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Flow + Data Science + Logging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real-time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1638" y="3604617"/>
            <a:ext cx="6342102" cy="1316117"/>
          </a:xfrm>
          <a:prstGeom prst="roundRect">
            <a:avLst>
              <a:gd name="adj" fmla="val 235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4498" y="3627477"/>
            <a:ext cx="824746" cy="1270397"/>
          </a:xfrm>
          <a:prstGeom prst="roundRect">
            <a:avLst>
              <a:gd name="adj" fmla="val 424"/>
            </a:avLst>
          </a:prstGeom>
          <a:solidFill>
            <a:srgbClr val="EAE8F3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68" y="4069318"/>
            <a:ext cx="309205" cy="3865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75341" y="3833574"/>
            <a:ext cx="3683198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Churn Prediction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775341" y="4361855"/>
            <a:ext cx="5265539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DB + Data Science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predictive analytics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21638" y="5126831"/>
            <a:ext cx="6342102" cy="1316117"/>
          </a:xfrm>
          <a:prstGeom prst="roundRect">
            <a:avLst>
              <a:gd name="adj" fmla="val 235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4498" y="5149691"/>
            <a:ext cx="824746" cy="1270397"/>
          </a:xfrm>
          <a:prstGeom prst="roundRect">
            <a:avLst>
              <a:gd name="adj" fmla="val 424"/>
            </a:avLst>
          </a:prstGeom>
          <a:solidFill>
            <a:srgbClr val="EAE8F3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68" y="5591532"/>
            <a:ext cx="309205" cy="3865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75341" y="5355788"/>
            <a:ext cx="2664976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Image Classification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775341" y="5884069"/>
            <a:ext cx="5265539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 Storage + Data Science + Vision AI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6025" y="7766050"/>
            <a:ext cx="714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515" y="1218605"/>
            <a:ext cx="328660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Workspaces &amp; Projects</a:t>
            </a:r>
            <a:endParaRPr lang="en-US" sz="54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0515" y="1742956"/>
            <a:ext cx="3003590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36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36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Organizing Your ML Environment</a:t>
            </a:r>
            <a:endParaRPr lang="en-US" sz="36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0515" y="223897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3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Workspace</a:t>
            </a: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0515" y="2529483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collaboration environment for teams</a:t>
            </a: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0515" y="2824282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32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Projects</a:t>
            </a:r>
            <a:endParaRPr lang="en-US" sz="32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0515" y="3307834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Logical grouping of related ML tasks and experiments</a:t>
            </a:r>
            <a:endParaRPr lang="en-US" sz="24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8381405"/>
            <a:ext cx="566976" cy="6804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7158" y="8494752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Create Workspace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35" y="9061847"/>
            <a:ext cx="566976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7158" y="9175194"/>
            <a:ext cx="163722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Define Compartments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9742289"/>
            <a:ext cx="566976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7158" y="9855637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Assign IAM Roles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35" y="10422731"/>
            <a:ext cx="566976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7158" y="10536079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Create Projects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5" y="11103173"/>
            <a:ext cx="566976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77158" y="1121652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Launch Notebooks</a:t>
            </a:r>
            <a:endParaRPr lang="en-US" sz="11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1760" y="7766050"/>
            <a:ext cx="181864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319" y="507802"/>
            <a:ext cx="10912554" cy="576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Visual Flow: Workspace to Model Deployment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19" y="1452801"/>
            <a:ext cx="55316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2792" y="1637109"/>
            <a:ext cx="2304812" cy="2881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82792" y="2035850"/>
            <a:ext cx="12602289" cy="295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collaboration environment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901" y="2743438"/>
            <a:ext cx="55316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59374" y="2927747"/>
            <a:ext cx="2304812" cy="2881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Projects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659374" y="3326487"/>
            <a:ext cx="12325707" cy="295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Organized ML task groupings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483" y="4034076"/>
            <a:ext cx="55316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5956" y="4218384"/>
            <a:ext cx="2304812" cy="2881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Notebook Sessions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935956" y="4617125"/>
            <a:ext cx="12049125" cy="295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development environment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065" y="5324713"/>
            <a:ext cx="55316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12538" y="5509022"/>
            <a:ext cx="2304812" cy="2881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Trained Models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212538" y="5907762"/>
            <a:ext cx="11772543" cy="295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Ready-to-deploy ML algorithms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483" y="6615351"/>
            <a:ext cx="55316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35956" y="6799659"/>
            <a:ext cx="2304812" cy="2881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935956" y="7198400"/>
            <a:ext cx="12049125" cy="295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Production-ready REST APIs</a:t>
            </a:r>
            <a:endParaRPr lang="en-US" sz="14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760" y="7766050"/>
            <a:ext cx="181864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315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858" y="3332559"/>
            <a:ext cx="10158293" cy="682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Accelerated Data Science (ADS) SDK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64858" y="4343281"/>
            <a:ext cx="13100685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SDK designed to </a:t>
            </a:r>
            <a:r>
              <a:rPr lang="en-US" sz="1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simplify the ML lifecycle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58" y="4938593"/>
            <a:ext cx="546259" cy="5462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84246" y="5068252"/>
            <a:ext cx="2731532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Handling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584246" y="5540693"/>
            <a:ext cx="5594390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data preparation and preprocessing capabilities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65" y="4938593"/>
            <a:ext cx="546259" cy="5462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71153" y="5068252"/>
            <a:ext cx="2731532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AutoML Training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8271153" y="5540693"/>
            <a:ext cx="5594390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model training with built-in optimization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58" y="6676787"/>
            <a:ext cx="546259" cy="5462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84246" y="6806446"/>
            <a:ext cx="3216116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REST API Deployment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1584246" y="7278886"/>
            <a:ext cx="5594390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deployment as production-ready web services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765" y="6676787"/>
            <a:ext cx="546259" cy="5462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71153" y="6806446"/>
            <a:ext cx="2777371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MLOps Capabilities</a:t>
            </a:r>
            <a:endParaRPr lang="en-US" sz="2150" dirty="0"/>
          </a:p>
        </p:txBody>
      </p:sp>
      <p:sp>
        <p:nvSpPr>
          <p:cNvPr id="16" name="Text 9"/>
          <p:cNvSpPr/>
          <p:nvPr/>
        </p:nvSpPr>
        <p:spPr>
          <a:xfrm>
            <a:off x="8271153" y="7278886"/>
            <a:ext cx="5594390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 and retraining pipeline automation</a:t>
            </a:r>
            <a:endParaRPr lang="en-US" sz="17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1760" y="7766050"/>
            <a:ext cx="181864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90" y="443984"/>
            <a:ext cx="4037171" cy="504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ADS SDK Example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5190" y="1190744"/>
            <a:ext cx="4656892" cy="302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Quick Model Training &amp; Deployment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5190" y="1917144"/>
            <a:ext cx="6553081" cy="3857625"/>
          </a:xfrm>
          <a:prstGeom prst="roundRect">
            <a:avLst>
              <a:gd name="adj" fmla="val 628"/>
            </a:avLst>
          </a:prstGeom>
          <a:solidFill>
            <a:srgbClr val="EEEDF2"/>
          </a:solidFill>
        </p:spPr>
      </p:sp>
      <p:sp>
        <p:nvSpPr>
          <p:cNvPr id="5" name="Shape 3"/>
          <p:cNvSpPr/>
          <p:nvPr/>
        </p:nvSpPr>
        <p:spPr>
          <a:xfrm>
            <a:off x="557213" y="1917144"/>
            <a:ext cx="6569035" cy="3857625"/>
          </a:xfrm>
          <a:prstGeom prst="roundRect">
            <a:avLst>
              <a:gd name="adj" fmla="val 628"/>
            </a:avLst>
          </a:prstGeom>
          <a:solidFill>
            <a:srgbClr val="EEEDF2"/>
          </a:solidFill>
        </p:spPr>
      </p:sp>
      <p:sp>
        <p:nvSpPr>
          <p:cNvPr id="6" name="Text 4"/>
          <p:cNvSpPr/>
          <p:nvPr/>
        </p:nvSpPr>
        <p:spPr>
          <a:xfrm>
            <a:off x="718661" y="2038231"/>
            <a:ext cx="6246138" cy="36154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adsfrom ads.dataset.factory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DatasetFactoryfrom ads.model.framework.sklearn_model 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SklearnModel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Load and prepare 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datads = DatasetFactory.open("data.csv")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Train model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sklearn.ensemble import RandomForestClassifier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 = SklearnModel(estimator=RandomForestClassifier())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model.fit(ds.x, ds.y)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Deploy to production</a:t>
            </a:r>
            <a:endParaRPr lang="en-US" sz="1250" dirty="0">
              <a:solidFill>
                <a:srgbClr val="49495A"/>
              </a:solidFill>
              <a:highlight>
                <a:srgbClr val="EEEDF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highlight>
                  <a:srgbClr val="EEED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model.deploy()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19749" y="8651796"/>
            <a:ext cx="6553081" cy="2582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 a few lines of code</a:t>
            </a: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go from data to deployed model</a:t>
            </a:r>
            <a:endParaRPr lang="en-US" sz="12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760" y="7766050"/>
            <a:ext cx="181864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4926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13867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AE8F3"/>
          </a:solidFill>
        </p:spPr>
      </p:sp>
      <p:sp>
        <p:nvSpPr>
          <p:cNvPr id="4" name="Text 2"/>
          <p:cNvSpPr/>
          <p:nvPr/>
        </p:nvSpPr>
        <p:spPr>
          <a:xfrm>
            <a:off x="1020604" y="35406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Service Alignment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031099"/>
            <a:ext cx="374273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</a:t>
            </a: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OCI services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specific business needs and use cases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313867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AE8F3"/>
          </a:solidFill>
        </p:spPr>
      </p:sp>
      <p:sp>
        <p:nvSpPr>
          <p:cNvPr id="7" name="Text 5"/>
          <p:cNvSpPr/>
          <p:nvPr/>
        </p:nvSpPr>
        <p:spPr>
          <a:xfrm>
            <a:off x="5443776" y="35406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Team Organization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031099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Workspaces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enable secure organization and seamless collaboration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313867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AE8F3"/>
          </a:solidFill>
        </p:spPr>
      </p:sp>
      <p:sp>
        <p:nvSpPr>
          <p:cNvPr id="10" name="Text 8"/>
          <p:cNvSpPr/>
          <p:nvPr/>
        </p:nvSpPr>
        <p:spPr>
          <a:xfrm>
            <a:off x="9866948" y="3540681"/>
            <a:ext cx="304085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Simplified Workflow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031099"/>
            <a:ext cx="374273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ADS SDK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streamlines the complete ML lifecycle end-to-end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0177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to accelerate your machine learning journey with Oracle Cloud Infrastructure</a:t>
            </a:r>
            <a:endParaRPr lang="en-US" sz="17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760" y="7766050"/>
            <a:ext cx="1818640" cy="3905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2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3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4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5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6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7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8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9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10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11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ags/tag12.xml><?xml version="1.0" encoding="utf-8"?>
<p:tagLst xmlns:p="http://schemas.openxmlformats.org/presentationml/2006/main">
  <p:tag name="KSO_WM_DIAGRAM_VIRTUALLY_FRAME" val="{&quot;height&quot;:163.56566929133857,&quot;left&quot;:62.50314960629921,&quot;top&quot;:282.1781102362205,&quot;width&quot;:1026.984330708661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2693</Words>
  <Application>WPS Presentation</Application>
  <PresentationFormat>On-screen Show (16:9)</PresentationFormat>
  <Paragraphs>176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Libre Baskerville</vt:lpstr>
      <vt:lpstr>Libre Baskerville</vt:lpstr>
      <vt:lpstr>Libre Baskerville</vt:lpstr>
      <vt:lpstr>Open Sans</vt:lpstr>
      <vt:lpstr>Open Sans</vt:lpstr>
      <vt:lpstr>Open Sans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Joshua Carlton</cp:lastModifiedBy>
  <cp:revision>2</cp:revision>
  <dcterms:created xsi:type="dcterms:W3CDTF">2025-09-26T16:25:00Z</dcterms:created>
  <dcterms:modified xsi:type="dcterms:W3CDTF">2025-09-26T16:44:24Z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C1E39A97B9294324ACA2BB0D933E57CF_12</vt:lpwstr>
  </property>
  <property fmtid="{D5CDD505-2E9C-101B-9397-08002B2CF9AE}" pid="3" name="KSOProductBuildVer">
    <vt:lpwstr>1033-12.2.0.22549</vt:lpwstr>
  </property>
</Properties>
</file>